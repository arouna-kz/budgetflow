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6858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66160"/>
            <a:ext cx="10360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BudgetFlow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C4B5FD"/>
                </a:solidFill>
                <a:latin typeface="Segoe UI"/>
              </a:rPr>
              <a:t>Plateforme de Gestion Budgétaire Intelligente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25780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Présentation du projet — de bout en 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50008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La solution BudgetFlow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6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Architecture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962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49624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Rôles &amp; circuit de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99432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9432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Tableau de 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492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Subventions &amp; suivi budgétaire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60020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Engagements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50008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350008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Paiements &amp; paiements échelonnés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99816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99816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Trésorerie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9624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849624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Préfinancements &amp; prêts employés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99432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599432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Rapports &amp; exports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3492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Sécurité, UX &amp; perspectives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Pourquoi BudgetFlow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Gestion des subventions et budgets souvent dispersée dans des fichiers Excel, source d'erreurs et de doublons.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Circuit de validation manuel, lent et peu traçable entre les différents responsables.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Difficulté à suivre en temps réel l'engagement, le décaissement et le solde disponible.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Paiements échelonnés et trésorerie difficiles à rapprocher des lignes budgétaires.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Manque de tableaux de bord consolidés pour le pilotage et le reporting aux bailleurs.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02 — 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Une plateforme unique, du budget au décaissement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Centralisation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Subventions, lignes budgétaires, engagements, paiements et trésorerie au même endroit.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Traçabilité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Circuit de validation à signatures et historique complet de chaque opération.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69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Engagement, décaissement, reste à payer et progression mis à jour instantanément.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4048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109728" cy="1783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690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F46E5"/>
                </a:solidFill>
                <a:latin typeface="Segoe UI"/>
              </a:rPr>
              <a:t>Pilotage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  <a:latin typeface="Segoe UI"/>
              </a:rPr>
              <a:t>Tableaux de bord, taux d'exécution et exports PDF / Excel prêts pour les bailleurs.</a:t>
            </a:r>
          </a:p>
        </p:txBody>
      </p:sp>
      <p:pic>
        <p:nvPicPr>
          <p:cNvPr id="22" name="Picture 2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03 — TECHNOLOGIE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Architecture technique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Interface modulaire et typée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STYLE /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Tailwind CSS + Lucide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Design responsive, mode clair/sombre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414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Développement et build ultra-rapides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Supabase (PostgreSQL)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Base de données temps réel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Auth + RLS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Authentification et règles d'accès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19"/>
            <a:ext cx="342900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044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946EF"/>
                </a:solidFill>
                <a:latin typeface="Segoe UI"/>
              </a:rPr>
              <a:t>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70247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jsPDF · html2canvas · 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7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Génération PDF et exports Excel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04 —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Rôles &amp; circuit de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33172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3317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Coordinateur de la Subvention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Initie et appose la 1ʳᵉ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83464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116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06440" y="233172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3317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Comptable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Contrôle et appose la 2ᵉ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4B5FD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331720"/>
            <a:ext cx="822960" cy="822960"/>
          </a:xfrm>
          <a:prstGeom prst="ellipse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3317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91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Coordonnateur National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7033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Validation finale (signature)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Un accès rapide « À signer » filtre pour chaque signataire les éléments en attente de SA signature — sans fouiller toute la liste.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Le même circuit s'applique aux engagements, paiements, préfinancements et prêts aux employés.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05 — PILOTAGE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Tableau de bord budgétaire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Tableau de bord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Vue consolidée : budget total, engagé, décaissé et disponible.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Taux d'engagement, d'exécution et de décaissement en un coup d'œil.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Le décaissé cumule les paiements directs ET la part déjà payée des paiements échelonnés.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Répartition par ligne budgétaire et subventions actives.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06 — FINANCEMENT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Gestion des subventions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Gestion des subventions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Création et suivi des subventions (bailleur, référence, période, devise).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Indicateurs par subvention : notifié, engagé, décaissé, en cours, reste, progression.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Association d'un compte bancaire et suivi du solde.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Multi-devise (XOF / FCFA, EUR…).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06 —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Suivi budgétaire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Suivi budgétaire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Lignes et sous-lignes budgétaires structurées.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Montant notifié, engagé, disponible et reste à payer par sous-ligne.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Cohérence garantie : un engagement rejeté est réaffecté au disponible.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Barres de progression et exports PDF / Excel.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07 — 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Gestion des engagements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Fiche d'engagement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Fiche d'engagement complète (fournisseur, facture, devis, montant).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Circuit de validation à signatures avec statuts En attente / Approuvé / Rejeté.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Contrôles automatiques : unicité du n° de facture, plafond du disponible.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Sélection ou création rapide d'un fournisseur ; export PDF de la fiche.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08 — PAIEMENTS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Paiements &amp; paiements échelonnés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Paiement échelonné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Paiements directs (complets) ou échelonnés en plusieurs transactions.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Chaque échéance : montant, date, mode (chèque / virement), référence unique.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Suivi automatique : montant payé, reste à payer et progression.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Mise à jour en temps réel, sans rechargement de toute la page.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09 — TRÉSORERIE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Trésorerie &amp; décaissements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Trésorerie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Décaissement des paiements approuvés (complets ou échelonnés).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Onglets En cours / Approuvés et historique des transactions.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Rapprochement automatique avec les comptes bancaires et les soldes.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Contrôle d'unicité des chèques et références de virement.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10 — AVANCES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Préfinancements &amp; prêts aux employés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Préfinancements / Prêts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Préfinancements : avances de trésorerie et suivi des remboursements.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Prêts aux employés : décaissement et échéancier de remboursement.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Même circuit de validation à signatures et accès rapide « À signer 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Statuts clairs : en attente, approuvé, décaissé, remboursé.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11 —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Rapports &amp;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3736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9320" y="1737360"/>
            <a:ext cx="5669280" cy="384048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011680"/>
            <a:ext cx="5669280" cy="109728"/>
          </a:xfrm>
          <a:prstGeom prst="roundRect">
            <a:avLst>
              <a:gd name="adj" fmla="val 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1874520"/>
            <a:ext cx="109728" cy="109728"/>
          </a:xfrm>
          <a:prstGeom prst="ellipse">
            <a:avLst/>
          </a:prstGeom>
          <a:solidFill>
            <a:srgbClr val="FB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74520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4536" y="1874520"/>
            <a:ext cx="109728" cy="109728"/>
          </a:xfrm>
          <a:prstGeom prst="ellipse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121408"/>
            <a:ext cx="5669280" cy="3822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7C3AED"/>
                </a:solidFill>
                <a:latin typeface="Segoe UI"/>
              </a:rPr>
              <a:t>🖼  </a:t>
            </a:r>
            <a:r>
              <a:rPr sz="1700" b="1">
                <a:solidFill>
                  <a:srgbClr val="64748B"/>
                </a:solidFill>
                <a:latin typeface="Segoe UI"/>
              </a:rPr>
              <a:t>Capture : Rapports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Insérez ici votre capture d'écran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Rapports consolidés par subvention, ligne budgétaire et période.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Exports PDF (fiches et listes) et Excel pour le reporting bailleur.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Génération de documents avec en-tête et mise en page professionnelle.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400" b="0">
                <a:solidFill>
                  <a:srgbClr val="1E293B"/>
                </a:solidFill>
                <a:latin typeface="Segoe UI"/>
              </a:rPr>
              <a:t>Filtres avancés (statut, date, fournisseur, ligne).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12 — EXPÉRIENCE &amp;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Points forts transverses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29971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99339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Mode clair / sombre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Thème professionnel, persistant, appliqué à toute la plateforme.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11112" y="229971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9339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Accès rapide « À signer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9572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Chaque signataire retrouve en 1 clic ce qui l'attend.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71703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41071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130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Alertes de signatures en attente et suivi des échéances.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11112" y="371703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1071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Sécurité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81304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Authentification Supabase, rôles &amp; permissions, règles d'accès (RLS).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6344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513435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82803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Temps réel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3036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Les données se mettent à jour sans recharger la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663440"/>
            <a:ext cx="52578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1112" y="5134356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828032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Segoe UI"/>
              </a:rPr>
              <a:t>Multi-devise &amp;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230368"/>
            <a:ext cx="4343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XOF/FCFA, EUR… et documents PDF / Excel prêts à partager.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901184" y="82296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Bénéfices clés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Gain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Saisie, validation et décaissement centralisés et automatisés.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67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Fiabilité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Contrôles automatiques et cohérence des montants garantie.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142231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Transparence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6634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Traçabilité complète : qui, quoi, quand — à chaque étape.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886199"/>
            <a:ext cx="5120640" cy="1645920"/>
          </a:xfrm>
          <a:prstGeom prst="roundRect">
            <a:avLst>
              <a:gd name="adj" fmla="val 7000"/>
            </a:avLst>
          </a:prstGeom>
          <a:solidFill>
            <a:srgbClr val="1E1B4B"/>
          </a:solidFill>
          <a:ln w="12700">
            <a:solidFill>
              <a:srgbClr val="5146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142231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C4B5FD"/>
                </a:solidFill>
                <a:latin typeface="Segoe UI"/>
              </a:rPr>
              <a:t>Pilotage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Indicateurs temps réel pour décider et rendre compte.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66928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3AED"/>
                </a:solidFill>
                <a:latin typeface="Segoe UI"/>
              </a:rPr>
              <a:t>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E293B"/>
                </a:solidFill>
                <a:latin typeface="Segoe UI"/>
              </a:rPr>
              <a:t>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Rapports analytiques avancés et graphiques interactifs (tendances, prévisions).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Notifications par e-mail et rappels automatiques d'échéances.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Application mobile pour signer et consulter en déplacement.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Intégrations bancaires et rapprochements automatisés.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000" b="0">
                <a:solidFill>
                  <a:srgbClr val="7C3AED"/>
                </a:solidFill>
                <a:latin typeface="Segoe UI"/>
              </a:rPr>
              <a:t>●  </a:t>
            </a:r>
            <a:r>
              <a:rPr sz="1500" b="0">
                <a:solidFill>
                  <a:srgbClr val="1E293B"/>
                </a:solidFill>
                <a:latin typeface="Segoe UI"/>
              </a:rPr>
              <a:t>Journal d'audit détaillé et gestion fine des permissions.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" y="633679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</a:rPr>
              <a:t>BudgetFlow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36792"/>
            <a:ext cx="822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23444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1188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4B5FD"/>
                </a:solidFill>
                <a:latin typeface="Segoe UI"/>
              </a:rPr>
              <a:t>BudgetFlow — Gérez vos budgets avec précision et sérénité.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1184" y="5212080"/>
            <a:ext cx="2377440" cy="54864"/>
          </a:xfrm>
          <a:prstGeom prst="roundRect">
            <a:avLst>
              <a:gd name="adj" fmla="val 50000"/>
            </a:avLst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