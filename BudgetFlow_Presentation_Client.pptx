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A76F0D-E943-4C3E-A204-6E4A9B7E400B}" v="6" dt="2026-07-12T23:44:24.4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lient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BudgetFlow_logo_g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640080"/>
            <a:ext cx="274320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20440"/>
            <a:ext cx="1036015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800" b="1">
                <a:solidFill>
                  <a:srgbClr val="FFFFFF"/>
                </a:solidFill>
                <a:latin typeface="Segoe UI"/>
              </a:rPr>
              <a:t>BudgetFlow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26280"/>
            <a:ext cx="103601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C4B5FD"/>
                </a:solidFill>
                <a:latin typeface="Segoe UI"/>
              </a:rPr>
              <a:t>La gestion budgétaire, simple et totalement maîtrisée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01184" y="5212080"/>
            <a:ext cx="2377440" cy="54864"/>
          </a:xfrm>
          <a:prstGeom prst="roundRect">
            <a:avLst>
              <a:gd name="adj" fmla="val 50000"/>
            </a:avLst>
          </a:prstGeom>
          <a:solidFill>
            <a:srgbClr val="E87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5440680"/>
            <a:ext cx="103601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C7CDE8"/>
                </a:solidFill>
                <a:latin typeface="Segoe UI"/>
              </a:rPr>
              <a:t>Une solution conçue par </a:t>
            </a:r>
            <a:r>
              <a:rPr sz="1500" b="1">
                <a:solidFill>
                  <a:srgbClr val="FFFFFF"/>
                </a:solidFill>
                <a:latin typeface="Segoe UI"/>
              </a:rPr>
              <a:t>SAVE 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lient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40080" y="566928"/>
            <a:ext cx="128016" cy="822960"/>
          </a:xfrm>
          <a:prstGeom prst="roundRect">
            <a:avLst>
              <a:gd name="adj" fmla="val 50000"/>
            </a:avLst>
          </a:prstGeom>
          <a:solidFill>
            <a:srgbClr val="E87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7AF0"/>
                </a:solidFill>
                <a:latin typeface="Segoe UI"/>
              </a:rPr>
              <a:t>BUDGETFLOW PAR SAVE 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749808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Une plateforme pensée pour vous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424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C7CDE8"/>
                </a:solidFill>
                <a:latin typeface="Segoe UI"/>
              </a:rPr>
              <a:t>BudgetFlow est la plateforme de gestion budgétaire développée par </a:t>
            </a:r>
            <a:r>
              <a:rPr sz="1700" b="1">
                <a:solidFill>
                  <a:srgbClr val="FFFFFF"/>
                </a:solidFill>
                <a:latin typeface="Segoe UI"/>
              </a:rPr>
              <a:t>SAVE TECH</a:t>
            </a:r>
            <a:r>
              <a:rPr sz="1700" b="0">
                <a:solidFill>
                  <a:srgbClr val="C7CDE8"/>
                </a:solidFill>
                <a:latin typeface="Segoe UI"/>
              </a:rPr>
              <a:t>. Elle accompagne les organisations, ONG et projets financés par subventions dans le suivi de leurs budgets, de la planification jusqu'au décaissement — en toute clarté et en toute confiance.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20040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242150"/>
          </a:solidFill>
          <a:ln w="12700">
            <a:solidFill>
              <a:srgbClr val="514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3200400"/>
            <a:ext cx="109728" cy="1828800"/>
          </a:xfrm>
          <a:prstGeom prst="roundRect">
            <a:avLst>
              <a:gd name="adj" fmla="val 50000"/>
            </a:avLst>
          </a:prstGeom>
          <a:solidFill>
            <a:srgbClr val="E87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3429000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C4B5FD"/>
                </a:solidFill>
                <a:latin typeface="Segoe UI"/>
              </a:rPr>
              <a:t>Pour qui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977640"/>
            <a:ext cx="2971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Segoe UI"/>
              </a:rPr>
              <a:t>Organisations, ONG, projets financés — et leurs équipes finance.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20040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242150"/>
          </a:solidFill>
          <a:ln w="12700">
            <a:solidFill>
              <a:srgbClr val="514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480560" y="3200400"/>
            <a:ext cx="109728" cy="1828800"/>
          </a:xfrm>
          <a:prstGeom prst="roundRect">
            <a:avLst>
              <a:gd name="adj" fmla="val 50000"/>
            </a:avLst>
          </a:prstGeom>
          <a:solidFill>
            <a:srgbClr val="E87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3429000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C4B5FD"/>
                </a:solidFill>
                <a:latin typeface="Segoe UI"/>
              </a:rPr>
              <a:t>Pour quoi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977640"/>
            <a:ext cx="2971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Segoe UI"/>
              </a:rPr>
              <a:t>Planifier, engager, payer, suivre et rendre compte, sans effort.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320040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242150"/>
          </a:solidFill>
          <a:ln w="12700">
            <a:solidFill>
              <a:srgbClr val="514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092440" y="3200400"/>
            <a:ext cx="109728" cy="1828800"/>
          </a:xfrm>
          <a:prstGeom prst="roundRect">
            <a:avLst>
              <a:gd name="adj" fmla="val 50000"/>
            </a:avLst>
          </a:prstGeom>
          <a:solidFill>
            <a:srgbClr val="E87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3429000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C4B5FD"/>
                </a:solidFill>
                <a:latin typeface="Segoe UI"/>
              </a:rPr>
              <a:t>La promesse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977640"/>
            <a:ext cx="2971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Segoe UI"/>
              </a:rPr>
              <a:t>Fini les tableurs éparpillés : tout est centralisé, tracé et à jour.</a:t>
            </a:r>
          </a:p>
        </p:txBody>
      </p:sp>
      <p:pic>
        <p:nvPicPr>
          <p:cNvPr id="19" name="Picture 18" descr="BudgetFlow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355080"/>
            <a:ext cx="310896" cy="31089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41248" y="6336792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BudgetFlow</a:t>
            </a:r>
            <a:r>
              <a:rPr sz="1100" b="0">
                <a:solidFill>
                  <a:srgbClr val="C4B5FD"/>
                </a:solidFill>
                <a:latin typeface="Segoe UI"/>
              </a:rPr>
              <a:t>   •  une solution SAVE TECH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336792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7CDE8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lient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40080" y="566928"/>
            <a:ext cx="128016" cy="822960"/>
          </a:xfrm>
          <a:prstGeom prst="roundRect">
            <a:avLst>
              <a:gd name="adj" fmla="val 50000"/>
            </a:avLst>
          </a:prstGeom>
          <a:solidFill>
            <a:srgbClr val="E87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7AF0"/>
                </a:solidFill>
                <a:latin typeface="Segoe UI"/>
              </a:rPr>
              <a:t>LE CONSTAT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749808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Gérer un budget ne devrait pas être un casse-tête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51560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</a:pPr>
            <a:r>
              <a:rPr sz="1200" b="0">
                <a:solidFill>
                  <a:srgbClr val="E87AF0"/>
                </a:solidFill>
                <a:latin typeface="Segoe UI"/>
              </a:rPr>
              <a:t>●  </a:t>
            </a:r>
            <a:r>
              <a:rPr sz="1650" b="0">
                <a:solidFill>
                  <a:srgbClr val="C7CDE8"/>
                </a:solidFill>
                <a:latin typeface="Segoe UI"/>
              </a:rPr>
              <a:t>Des fichiers Excel dispersés, difficiles à tenir à jour et sources d'erreurs.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</a:pPr>
            <a:r>
              <a:rPr sz="1200" b="0">
                <a:solidFill>
                  <a:srgbClr val="E87AF0"/>
                </a:solidFill>
                <a:latin typeface="Segoe UI"/>
              </a:rPr>
              <a:t>●  </a:t>
            </a:r>
            <a:r>
              <a:rPr sz="1650" b="0">
                <a:solidFill>
                  <a:srgbClr val="C7CDE8"/>
                </a:solidFill>
                <a:latin typeface="Segoe UI"/>
              </a:rPr>
              <a:t>Des validations lentes, peu tracées, où l'on ne sait plus qui doit signer.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</a:pPr>
            <a:r>
              <a:rPr sz="1200" b="0">
                <a:solidFill>
                  <a:srgbClr val="E87AF0"/>
                </a:solidFill>
                <a:latin typeface="Segoe UI"/>
              </a:rPr>
              <a:t>●  </a:t>
            </a:r>
            <a:r>
              <a:rPr sz="1650" b="0">
                <a:solidFill>
                  <a:srgbClr val="C7CDE8"/>
                </a:solidFill>
                <a:latin typeface="Segoe UI"/>
              </a:rPr>
              <a:t>Peu de visibilité en temps réel : engagé, décaissé, disponible… au doigt mouillé.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</a:pPr>
            <a:r>
              <a:rPr sz="1200" b="0">
                <a:solidFill>
                  <a:srgbClr val="E87AF0"/>
                </a:solidFill>
                <a:latin typeface="Segoe UI"/>
              </a:rPr>
              <a:t>●  </a:t>
            </a:r>
            <a:r>
              <a:rPr sz="1650" b="0">
                <a:solidFill>
                  <a:srgbClr val="C7CDE8"/>
                </a:solidFill>
                <a:latin typeface="Segoe UI"/>
              </a:rPr>
              <a:t>Des paiements et remboursements compliqués à suivre et à rapprocher.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</a:pPr>
            <a:r>
              <a:rPr sz="1200" b="0">
                <a:solidFill>
                  <a:srgbClr val="E87AF0"/>
                </a:solidFill>
                <a:latin typeface="Segoe UI"/>
              </a:rPr>
              <a:t>●  </a:t>
            </a:r>
            <a:r>
              <a:rPr sz="1650" b="0">
                <a:solidFill>
                  <a:srgbClr val="C7CDE8"/>
                </a:solidFill>
                <a:latin typeface="Segoe UI"/>
              </a:rPr>
              <a:t>Un reporting fastidieux au moment de rendre compte aux bailleurs.</a:t>
            </a:r>
          </a:p>
        </p:txBody>
      </p:sp>
      <p:pic>
        <p:nvPicPr>
          <p:cNvPr id="7" name="Picture 6" descr="BudgetFlow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355080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" y="6336792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BudgetFlow</a:t>
            </a:r>
            <a:r>
              <a:rPr sz="1100" b="0">
                <a:solidFill>
                  <a:srgbClr val="C4B5FD"/>
                </a:solidFill>
                <a:latin typeface="Segoe UI"/>
              </a:rPr>
              <a:t>   •  une solution SAVE TECH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336792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7CDE8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lient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40080" y="566928"/>
            <a:ext cx="128016" cy="822960"/>
          </a:xfrm>
          <a:prstGeom prst="roundRect">
            <a:avLst>
              <a:gd name="adj" fmla="val 50000"/>
            </a:avLst>
          </a:prstGeom>
          <a:solidFill>
            <a:srgbClr val="E87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7AF0"/>
                </a:solidFill>
                <a:latin typeface="Segoe UI"/>
              </a:rPr>
              <a:t>LA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749808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BudgetFlow réunit tout au même endroit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5257800" cy="1783080"/>
          </a:xfrm>
          <a:prstGeom prst="roundRect">
            <a:avLst>
              <a:gd name="adj" fmla="val 6000"/>
            </a:avLst>
          </a:prstGeom>
          <a:solidFill>
            <a:srgbClr val="242150"/>
          </a:solidFill>
          <a:ln w="12700">
            <a:solidFill>
              <a:srgbClr val="514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68680" y="1828800"/>
            <a:ext cx="109728" cy="1783080"/>
          </a:xfrm>
          <a:prstGeom prst="roundRect">
            <a:avLst>
              <a:gd name="adj" fmla="val 50000"/>
            </a:avLst>
          </a:prstGeom>
          <a:solidFill>
            <a:srgbClr val="E87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61288" y="205740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C4B5FD"/>
                </a:solidFill>
                <a:latin typeface="Segoe UI"/>
              </a:rPr>
              <a:t>Centralisation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2578608"/>
            <a:ext cx="47091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Segoe UI"/>
              </a:rPr>
              <a:t>Subventions, budgets, engagements, paiements et trésorerie réunis.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828800"/>
            <a:ext cx="5257800" cy="1783080"/>
          </a:xfrm>
          <a:prstGeom prst="roundRect">
            <a:avLst>
              <a:gd name="adj" fmla="val 6000"/>
            </a:avLst>
          </a:prstGeom>
          <a:solidFill>
            <a:srgbClr val="242150"/>
          </a:solidFill>
          <a:ln w="12700">
            <a:solidFill>
              <a:srgbClr val="514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55080" y="1828800"/>
            <a:ext cx="109728" cy="1783080"/>
          </a:xfrm>
          <a:prstGeom prst="roundRect">
            <a:avLst>
              <a:gd name="adj" fmla="val 50000"/>
            </a:avLst>
          </a:prstGeom>
          <a:solidFill>
            <a:srgbClr val="E87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47688" y="205740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C4B5FD"/>
                </a:solidFill>
                <a:latin typeface="Segoe UI"/>
              </a:rPr>
              <a:t>Traçabilité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7688" y="2578608"/>
            <a:ext cx="47091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Segoe UI"/>
              </a:rPr>
              <a:t>Chaque action est validée, historisée et justifiable à tout moment.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840480"/>
            <a:ext cx="5257800" cy="1783080"/>
          </a:xfrm>
          <a:prstGeom prst="roundRect">
            <a:avLst>
              <a:gd name="adj" fmla="val 6000"/>
            </a:avLst>
          </a:prstGeom>
          <a:solidFill>
            <a:srgbClr val="242150"/>
          </a:solidFill>
          <a:ln w="12700">
            <a:solidFill>
              <a:srgbClr val="514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68680" y="3840480"/>
            <a:ext cx="109728" cy="1783080"/>
          </a:xfrm>
          <a:prstGeom prst="roundRect">
            <a:avLst>
              <a:gd name="adj" fmla="val 50000"/>
            </a:avLst>
          </a:prstGeom>
          <a:solidFill>
            <a:srgbClr val="E87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61288" y="406908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C4B5FD"/>
                </a:solidFill>
                <a:latin typeface="Segoe UI"/>
              </a:rPr>
              <a:t>Temps réel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1288" y="4590288"/>
            <a:ext cx="47091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Segoe UI"/>
              </a:rPr>
              <a:t>Vos indicateurs se mettent à jour instantanément, sans ressaisie.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840480"/>
            <a:ext cx="5257800" cy="1783080"/>
          </a:xfrm>
          <a:prstGeom prst="roundRect">
            <a:avLst>
              <a:gd name="adj" fmla="val 6000"/>
            </a:avLst>
          </a:prstGeom>
          <a:solidFill>
            <a:srgbClr val="242150"/>
          </a:solidFill>
          <a:ln w="12700">
            <a:solidFill>
              <a:srgbClr val="514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355080" y="3840480"/>
            <a:ext cx="109728" cy="1783080"/>
          </a:xfrm>
          <a:prstGeom prst="roundRect">
            <a:avLst>
              <a:gd name="adj" fmla="val 50000"/>
            </a:avLst>
          </a:prstGeom>
          <a:solidFill>
            <a:srgbClr val="E87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47688" y="406908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C4B5FD"/>
                </a:solidFill>
                <a:latin typeface="Segoe UI"/>
              </a:rPr>
              <a:t>Pilotage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7688" y="4590288"/>
            <a:ext cx="47091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Segoe UI"/>
              </a:rPr>
              <a:t>Des tableaux de bord clairs et des exports prêts pour vos bailleurs.</a:t>
            </a:r>
          </a:p>
        </p:txBody>
      </p:sp>
      <p:pic>
        <p:nvPicPr>
          <p:cNvPr id="22" name="Picture 21" descr="BudgetFlow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355080"/>
            <a:ext cx="310896" cy="31089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41248" y="6336792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BudgetFlow</a:t>
            </a:r>
            <a:r>
              <a:rPr sz="1100" b="0">
                <a:solidFill>
                  <a:srgbClr val="C4B5FD"/>
                </a:solidFill>
                <a:latin typeface="Segoe UI"/>
              </a:rPr>
              <a:t>   •  une solution SAVE TECH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336792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7CDE8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lient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40080" y="566928"/>
            <a:ext cx="128016" cy="822960"/>
          </a:xfrm>
          <a:prstGeom prst="roundRect">
            <a:avLst>
              <a:gd name="adj" fmla="val 50000"/>
            </a:avLst>
          </a:prstGeom>
          <a:solidFill>
            <a:srgbClr val="E87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7AF0"/>
                </a:solidFill>
                <a:latin typeface="Segoe UI"/>
              </a:rPr>
              <a:t>VUE D'ENSEMBLE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749808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Tableau de bord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81328"/>
            <a:ext cx="3362858" cy="566928"/>
          </a:xfrm>
          <a:prstGeom prst="roundRect">
            <a:avLst>
              <a:gd name="adj" fmla="val 40000"/>
            </a:avLst>
          </a:prstGeom>
          <a:solidFill>
            <a:srgbClr val="2A245E"/>
          </a:solidFill>
          <a:ln w="12700">
            <a:solidFill>
              <a:srgbClr val="514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481328"/>
            <a:ext cx="308853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7AF0"/>
                </a:solidFill>
                <a:latin typeface="Segoe UI"/>
              </a:rPr>
              <a:t>✓  </a:t>
            </a:r>
            <a:r>
              <a:rPr sz="1250" b="0">
                <a:solidFill>
                  <a:srgbClr val="FFFFFF"/>
                </a:solidFill>
                <a:latin typeface="Segoe UI"/>
              </a:rPr>
              <a:t>Tout votre budget en un coup d'œil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4418" y="1481328"/>
            <a:ext cx="3362858" cy="566928"/>
          </a:xfrm>
          <a:prstGeom prst="roundRect">
            <a:avLst>
              <a:gd name="adj" fmla="val 40000"/>
            </a:avLst>
          </a:prstGeom>
          <a:solidFill>
            <a:srgbClr val="2A245E"/>
          </a:solidFill>
          <a:ln w="12700">
            <a:solidFill>
              <a:srgbClr val="514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1578" y="1481328"/>
            <a:ext cx="308853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7AF0"/>
                </a:solidFill>
                <a:latin typeface="Segoe UI"/>
              </a:rPr>
              <a:t>✓  </a:t>
            </a:r>
            <a:r>
              <a:rPr sz="1250" b="0">
                <a:solidFill>
                  <a:srgbClr val="FFFFFF"/>
                </a:solidFill>
                <a:latin typeface="Segoe UI"/>
              </a:rPr>
              <a:t>Taux d'engagement et d'exécution en direct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5876" y="1481328"/>
            <a:ext cx="3362858" cy="566928"/>
          </a:xfrm>
          <a:prstGeom prst="roundRect">
            <a:avLst>
              <a:gd name="adj" fmla="val 40000"/>
            </a:avLst>
          </a:prstGeom>
          <a:solidFill>
            <a:srgbClr val="2A245E"/>
          </a:solidFill>
          <a:ln w="12700">
            <a:solidFill>
              <a:srgbClr val="514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43036" y="1481328"/>
            <a:ext cx="308853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7AF0"/>
                </a:solidFill>
                <a:latin typeface="Segoe UI"/>
              </a:rPr>
              <a:t>✓  </a:t>
            </a:r>
            <a:r>
              <a:rPr sz="1250" b="0">
                <a:solidFill>
                  <a:srgbClr val="FFFFFF"/>
                </a:solidFill>
                <a:latin typeface="Segoe UI"/>
              </a:rPr>
              <a:t>Cliquez pour aller droit au but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61408" y="2231136"/>
            <a:ext cx="9468878" cy="4087367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Une image contenant texte, capture d’écran, multimédia, logiciel&#10;&#10;Le contenu généré par l’IA peut êtr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953" y="2286000"/>
            <a:ext cx="9263788" cy="3977639"/>
          </a:xfrm>
          <a:prstGeom prst="rect">
            <a:avLst/>
          </a:prstGeom>
        </p:spPr>
      </p:pic>
      <p:pic>
        <p:nvPicPr>
          <p:cNvPr id="14" name="Picture 13" descr="BudgetFlow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355080"/>
            <a:ext cx="310896" cy="3108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1248" y="6336792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BudgetFlow</a:t>
            </a:r>
            <a:r>
              <a:rPr sz="1100" b="0">
                <a:solidFill>
                  <a:srgbClr val="C4B5FD"/>
                </a:solidFill>
                <a:latin typeface="Segoe UI"/>
              </a:rPr>
              <a:t>   •  une solution SAVE TECH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336792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7CDE8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lient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40080" y="566928"/>
            <a:ext cx="128016" cy="822960"/>
          </a:xfrm>
          <a:prstGeom prst="roundRect">
            <a:avLst>
              <a:gd name="adj" fmla="val 50000"/>
            </a:avLst>
          </a:prstGeom>
          <a:solidFill>
            <a:srgbClr val="E87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7AF0"/>
                </a:solidFill>
                <a:latin typeface="Segoe UI"/>
              </a:rPr>
              <a:t>FINANCEMENTS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749808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Gestion des subventions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81328"/>
            <a:ext cx="3362858" cy="566928"/>
          </a:xfrm>
          <a:prstGeom prst="roundRect">
            <a:avLst>
              <a:gd name="adj" fmla="val 40000"/>
            </a:avLst>
          </a:prstGeom>
          <a:solidFill>
            <a:srgbClr val="2A245E"/>
          </a:solidFill>
          <a:ln w="12700">
            <a:solidFill>
              <a:srgbClr val="514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481328"/>
            <a:ext cx="308853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7AF0"/>
                </a:solidFill>
                <a:latin typeface="Segoe UI"/>
              </a:rPr>
              <a:t>✓  </a:t>
            </a:r>
            <a:r>
              <a:rPr sz="1250" b="0">
                <a:solidFill>
                  <a:srgbClr val="FFFFFF"/>
                </a:solidFill>
                <a:latin typeface="Segoe UI"/>
              </a:rPr>
              <a:t>Chaque subvention suivie de A à 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4418" y="1481328"/>
            <a:ext cx="3362858" cy="566928"/>
          </a:xfrm>
          <a:prstGeom prst="roundRect">
            <a:avLst>
              <a:gd name="adj" fmla="val 40000"/>
            </a:avLst>
          </a:prstGeom>
          <a:solidFill>
            <a:srgbClr val="2A245E"/>
          </a:solidFill>
          <a:ln w="12700">
            <a:solidFill>
              <a:srgbClr val="514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1578" y="1481328"/>
            <a:ext cx="308853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7AF0"/>
                </a:solidFill>
                <a:latin typeface="Segoe UI"/>
              </a:rPr>
              <a:t>✓  </a:t>
            </a:r>
            <a:r>
              <a:rPr sz="1250" b="0">
                <a:solidFill>
                  <a:srgbClr val="FFFFFF"/>
                </a:solidFill>
                <a:latin typeface="Segoe UI"/>
              </a:rPr>
              <a:t>Notifié, engagé, décaissé, disponible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5876" y="1481328"/>
            <a:ext cx="3362858" cy="566928"/>
          </a:xfrm>
          <a:prstGeom prst="roundRect">
            <a:avLst>
              <a:gd name="adj" fmla="val 40000"/>
            </a:avLst>
          </a:prstGeom>
          <a:solidFill>
            <a:srgbClr val="2A245E"/>
          </a:solidFill>
          <a:ln w="12700">
            <a:solidFill>
              <a:srgbClr val="514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43036" y="1481328"/>
            <a:ext cx="308853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7AF0"/>
                </a:solidFill>
                <a:latin typeface="Segoe UI"/>
              </a:rPr>
              <a:t>✓  </a:t>
            </a:r>
            <a:r>
              <a:rPr sz="1250" b="0">
                <a:solidFill>
                  <a:srgbClr val="FFFFFF"/>
                </a:solidFill>
                <a:latin typeface="Segoe UI"/>
              </a:rPr>
              <a:t>Multi-devise (XOF, EUR…)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21384" y="2231136"/>
            <a:ext cx="8948925" cy="4087367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Une image contenant texte, capture d’écran, logiciel, Icône d’ordinateur&#10;&#10;Le contenu généré par l’IA peut êtr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248" y="2308098"/>
            <a:ext cx="8839197" cy="3933442"/>
          </a:xfrm>
          <a:prstGeom prst="rect">
            <a:avLst/>
          </a:prstGeom>
        </p:spPr>
      </p:pic>
      <p:pic>
        <p:nvPicPr>
          <p:cNvPr id="14" name="Picture 13" descr="BudgetFlow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355080"/>
            <a:ext cx="310896" cy="3108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1248" y="6336792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BudgetFlow</a:t>
            </a:r>
            <a:r>
              <a:rPr sz="1100" b="0">
                <a:solidFill>
                  <a:srgbClr val="C4B5FD"/>
                </a:solidFill>
                <a:latin typeface="Segoe UI"/>
              </a:rPr>
              <a:t>   •  une solution SAVE TECH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336792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7CDE8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lient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40080" y="566928"/>
            <a:ext cx="128016" cy="822960"/>
          </a:xfrm>
          <a:prstGeom prst="roundRect">
            <a:avLst>
              <a:gd name="adj" fmla="val 50000"/>
            </a:avLst>
          </a:prstGeom>
          <a:solidFill>
            <a:srgbClr val="E87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7AF0"/>
                </a:solidFill>
                <a:latin typeface="Segoe UI"/>
              </a:rPr>
              <a:t>PLANIFICATION &amp; NOTIFICATIONS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749808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Planifier et notifier en toute traçabilité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81328"/>
            <a:ext cx="3362858" cy="566928"/>
          </a:xfrm>
          <a:prstGeom prst="roundRect">
            <a:avLst>
              <a:gd name="adj" fmla="val 40000"/>
            </a:avLst>
          </a:prstGeom>
          <a:solidFill>
            <a:srgbClr val="2A245E"/>
          </a:solidFill>
          <a:ln w="12700">
            <a:solidFill>
              <a:srgbClr val="514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481328"/>
            <a:ext cx="308853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7AF0"/>
                </a:solidFill>
                <a:latin typeface="Segoe UI"/>
              </a:rPr>
              <a:t>✓  </a:t>
            </a:r>
            <a:r>
              <a:rPr sz="1250" b="0">
                <a:solidFill>
                  <a:srgbClr val="FFFFFF"/>
                </a:solidFill>
                <a:latin typeface="Segoe UI"/>
              </a:rPr>
              <a:t>Budget reçu en une ou plusieurs tranches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4418" y="1481328"/>
            <a:ext cx="3362858" cy="566928"/>
          </a:xfrm>
          <a:prstGeom prst="roundRect">
            <a:avLst>
              <a:gd name="adj" fmla="val 40000"/>
            </a:avLst>
          </a:prstGeom>
          <a:solidFill>
            <a:srgbClr val="2A245E"/>
          </a:solidFill>
          <a:ln w="12700">
            <a:solidFill>
              <a:srgbClr val="514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1578" y="1481328"/>
            <a:ext cx="308853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7AF0"/>
                </a:solidFill>
                <a:latin typeface="Segoe UI"/>
              </a:rPr>
              <a:t>✓  </a:t>
            </a:r>
            <a:r>
              <a:rPr sz="1250" b="0">
                <a:solidFill>
                  <a:srgbClr val="FFFFFF"/>
                </a:solidFill>
                <a:latin typeface="Segoe UI"/>
              </a:rPr>
              <a:t>Historique des notifications conservé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5876" y="1481328"/>
            <a:ext cx="3362858" cy="566928"/>
          </a:xfrm>
          <a:prstGeom prst="roundRect">
            <a:avLst>
              <a:gd name="adj" fmla="val 40000"/>
            </a:avLst>
          </a:prstGeom>
          <a:solidFill>
            <a:srgbClr val="2A245E"/>
          </a:solidFill>
          <a:ln w="12700">
            <a:solidFill>
              <a:srgbClr val="514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43036" y="1481328"/>
            <a:ext cx="308853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7AF0"/>
                </a:solidFill>
                <a:latin typeface="Segoe UI"/>
              </a:rPr>
              <a:t>✓  </a:t>
            </a:r>
            <a:r>
              <a:rPr sz="1250" b="0">
                <a:solidFill>
                  <a:srgbClr val="FFFFFF"/>
                </a:solidFill>
                <a:latin typeface="Segoe UI"/>
              </a:rPr>
              <a:t>Transferts entre lignes tracés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7463" y="2231136"/>
            <a:ext cx="10716768" cy="390837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03_planific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327" y="2286000"/>
            <a:ext cx="10607040" cy="3798646"/>
          </a:xfrm>
          <a:prstGeom prst="rect">
            <a:avLst/>
          </a:prstGeom>
        </p:spPr>
      </p:pic>
      <p:pic>
        <p:nvPicPr>
          <p:cNvPr id="14" name="Picture 13" descr="BudgetFlow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355080"/>
            <a:ext cx="310896" cy="3108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1248" y="6336792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BudgetFlow</a:t>
            </a:r>
            <a:r>
              <a:rPr sz="1100" b="0">
                <a:solidFill>
                  <a:srgbClr val="C4B5FD"/>
                </a:solidFill>
                <a:latin typeface="Segoe UI"/>
              </a:rPr>
              <a:t>   •  une solution SAVE TECH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336792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7CDE8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lient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40080" y="566928"/>
            <a:ext cx="128016" cy="822960"/>
          </a:xfrm>
          <a:prstGeom prst="roundRect">
            <a:avLst>
              <a:gd name="adj" fmla="val 50000"/>
            </a:avLst>
          </a:prstGeom>
          <a:solidFill>
            <a:srgbClr val="E87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7AF0"/>
                </a:solidFill>
                <a:latin typeface="Segoe UI"/>
              </a:rPr>
              <a:t>SUIVI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749808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Tableau de suivi budgétaire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81328"/>
            <a:ext cx="3362858" cy="566928"/>
          </a:xfrm>
          <a:prstGeom prst="roundRect">
            <a:avLst>
              <a:gd name="adj" fmla="val 40000"/>
            </a:avLst>
          </a:prstGeom>
          <a:solidFill>
            <a:srgbClr val="2A245E"/>
          </a:solidFill>
          <a:ln w="12700">
            <a:solidFill>
              <a:srgbClr val="514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481328"/>
            <a:ext cx="308853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7AF0"/>
                </a:solidFill>
                <a:latin typeface="Segoe UI"/>
              </a:rPr>
              <a:t>✓  </a:t>
            </a:r>
            <a:r>
              <a:rPr sz="1250" b="0">
                <a:solidFill>
                  <a:srgbClr val="FFFFFF"/>
                </a:solidFill>
                <a:latin typeface="Segoe UI"/>
              </a:rPr>
              <a:t>L'exécution du budget en temps réel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4418" y="1481328"/>
            <a:ext cx="3362858" cy="566928"/>
          </a:xfrm>
          <a:prstGeom prst="roundRect">
            <a:avLst>
              <a:gd name="adj" fmla="val 40000"/>
            </a:avLst>
          </a:prstGeom>
          <a:solidFill>
            <a:srgbClr val="2A245E"/>
          </a:solidFill>
          <a:ln w="12700">
            <a:solidFill>
              <a:srgbClr val="514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1578" y="1481328"/>
            <a:ext cx="308853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7AF0"/>
                </a:solidFill>
                <a:latin typeface="Segoe UI"/>
              </a:rPr>
              <a:t>✓  </a:t>
            </a:r>
            <a:r>
              <a:rPr sz="1250" b="0">
                <a:solidFill>
                  <a:srgbClr val="FFFFFF"/>
                </a:solidFill>
                <a:latin typeface="Segoe UI"/>
              </a:rPr>
              <a:t>Décaissé, en attente, reste, disponible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5876" y="1481328"/>
            <a:ext cx="3362858" cy="566928"/>
          </a:xfrm>
          <a:prstGeom prst="roundRect">
            <a:avLst>
              <a:gd name="adj" fmla="val 40000"/>
            </a:avLst>
          </a:prstGeom>
          <a:solidFill>
            <a:srgbClr val="2A245E"/>
          </a:solidFill>
          <a:ln w="12700">
            <a:solidFill>
              <a:srgbClr val="514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43036" y="1481328"/>
            <a:ext cx="308853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7AF0"/>
                </a:solidFill>
                <a:latin typeface="Segoe UI"/>
              </a:rPr>
              <a:t>✓  </a:t>
            </a:r>
            <a:r>
              <a:rPr sz="1250" b="0">
                <a:solidFill>
                  <a:srgbClr val="FFFFFF"/>
                </a:solidFill>
                <a:latin typeface="Segoe UI"/>
              </a:rPr>
              <a:t>Alertes en cas de dépassement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52947" y="2231136"/>
            <a:ext cx="9885799" cy="4087367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Une image contenant texte, capture d’écran, logiciel, Icône d’ordinateur&#10;&#10;Le contenu généré par l’IA peut êtr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143" y="2286000"/>
            <a:ext cx="9345407" cy="3977639"/>
          </a:xfrm>
          <a:prstGeom prst="rect">
            <a:avLst/>
          </a:prstGeom>
        </p:spPr>
      </p:pic>
      <p:pic>
        <p:nvPicPr>
          <p:cNvPr id="14" name="Picture 13" descr="BudgetFlow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355080"/>
            <a:ext cx="310896" cy="3108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1248" y="6336792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BudgetFlow</a:t>
            </a:r>
            <a:r>
              <a:rPr sz="1100" b="0">
                <a:solidFill>
                  <a:srgbClr val="C4B5FD"/>
                </a:solidFill>
                <a:latin typeface="Segoe UI"/>
              </a:rPr>
              <a:t>   •  une solution SAVE TECH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336792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7CDE8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lient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40080" y="566928"/>
            <a:ext cx="128016" cy="822960"/>
          </a:xfrm>
          <a:prstGeom prst="roundRect">
            <a:avLst>
              <a:gd name="adj" fmla="val 50000"/>
            </a:avLst>
          </a:prstGeom>
          <a:solidFill>
            <a:srgbClr val="E87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7AF0"/>
                </a:solidFill>
                <a:latin typeface="Segoe UI"/>
              </a:rPr>
              <a:t>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749808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Gestion des engagements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81328"/>
            <a:ext cx="3362858" cy="566928"/>
          </a:xfrm>
          <a:prstGeom prst="roundRect">
            <a:avLst>
              <a:gd name="adj" fmla="val 40000"/>
            </a:avLst>
          </a:prstGeom>
          <a:solidFill>
            <a:srgbClr val="2A245E"/>
          </a:solidFill>
          <a:ln w="12700">
            <a:solidFill>
              <a:srgbClr val="514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481328"/>
            <a:ext cx="308853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7AF0"/>
                </a:solidFill>
                <a:latin typeface="Segoe UI"/>
              </a:rPr>
              <a:t>✓  </a:t>
            </a:r>
            <a:r>
              <a:rPr sz="1250" b="0">
                <a:solidFill>
                  <a:srgbClr val="FFFFFF"/>
                </a:solidFill>
                <a:latin typeface="Segoe UI"/>
              </a:rPr>
              <a:t>Circuit de validation à signatures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4418" y="1481328"/>
            <a:ext cx="3362858" cy="566928"/>
          </a:xfrm>
          <a:prstGeom prst="roundRect">
            <a:avLst>
              <a:gd name="adj" fmla="val 40000"/>
            </a:avLst>
          </a:prstGeom>
          <a:solidFill>
            <a:srgbClr val="2A245E"/>
          </a:solidFill>
          <a:ln w="12700">
            <a:solidFill>
              <a:srgbClr val="514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1578" y="1481328"/>
            <a:ext cx="308853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7AF0"/>
                </a:solidFill>
                <a:latin typeface="Segoe UI"/>
              </a:rPr>
              <a:t>✓  </a:t>
            </a:r>
            <a:r>
              <a:rPr sz="1250" b="0">
                <a:solidFill>
                  <a:srgbClr val="FFFFFF"/>
                </a:solidFill>
                <a:latin typeface="Segoe UI"/>
              </a:rPr>
              <a:t>Accès rapide « À signer » pour chaque validateur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5876" y="1481328"/>
            <a:ext cx="3362858" cy="566928"/>
          </a:xfrm>
          <a:prstGeom prst="roundRect">
            <a:avLst>
              <a:gd name="adj" fmla="val 40000"/>
            </a:avLst>
          </a:prstGeom>
          <a:solidFill>
            <a:srgbClr val="2A245E"/>
          </a:solidFill>
          <a:ln w="12700">
            <a:solidFill>
              <a:srgbClr val="514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43036" y="1481328"/>
            <a:ext cx="308853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7AF0"/>
                </a:solidFill>
                <a:latin typeface="Segoe UI"/>
              </a:rPr>
              <a:t>✓  </a:t>
            </a:r>
            <a:r>
              <a:rPr sz="1250" b="0">
                <a:solidFill>
                  <a:srgbClr val="FFFFFF"/>
                </a:solidFill>
                <a:latin typeface="Segoe UI"/>
              </a:rPr>
              <a:t>Contrôles automatiques anti-erreur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33743" y="2231136"/>
            <a:ext cx="9124207" cy="4087367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05_engage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8607" y="2286000"/>
            <a:ext cx="9014479" cy="3977639"/>
          </a:xfrm>
          <a:prstGeom prst="rect">
            <a:avLst/>
          </a:prstGeom>
        </p:spPr>
      </p:pic>
      <p:pic>
        <p:nvPicPr>
          <p:cNvPr id="14" name="Picture 13" descr="BudgetFlow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355080"/>
            <a:ext cx="310896" cy="3108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1248" y="6336792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BudgetFlow</a:t>
            </a:r>
            <a:r>
              <a:rPr sz="1100" b="0">
                <a:solidFill>
                  <a:srgbClr val="C4B5FD"/>
                </a:solidFill>
                <a:latin typeface="Segoe UI"/>
              </a:rPr>
              <a:t>   •  une solution SAVE TECH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336792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7CDE8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lient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40080" y="566928"/>
            <a:ext cx="128016" cy="822960"/>
          </a:xfrm>
          <a:prstGeom prst="roundRect">
            <a:avLst>
              <a:gd name="adj" fmla="val 50000"/>
            </a:avLst>
          </a:prstGeom>
          <a:solidFill>
            <a:srgbClr val="E87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7AF0"/>
                </a:solidFill>
                <a:latin typeface="Segoe UI"/>
              </a:rPr>
              <a:t>DÉCAISSEMENT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749808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Paiements &amp; paiements échelonnés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81328"/>
            <a:ext cx="3362858" cy="566928"/>
          </a:xfrm>
          <a:prstGeom prst="roundRect">
            <a:avLst>
              <a:gd name="adj" fmla="val 40000"/>
            </a:avLst>
          </a:prstGeom>
          <a:solidFill>
            <a:srgbClr val="2A245E"/>
          </a:solidFill>
          <a:ln w="12700">
            <a:solidFill>
              <a:srgbClr val="514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481328"/>
            <a:ext cx="308853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7AF0"/>
                </a:solidFill>
                <a:latin typeface="Segoe UI"/>
              </a:rPr>
              <a:t>✓  </a:t>
            </a:r>
            <a:r>
              <a:rPr sz="1250" b="0">
                <a:solidFill>
                  <a:srgbClr val="FFFFFF"/>
                </a:solidFill>
                <a:latin typeface="Segoe UI"/>
              </a:rPr>
              <a:t>Paiement direct ou en plusieurs fois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4418" y="1481328"/>
            <a:ext cx="3362858" cy="566928"/>
          </a:xfrm>
          <a:prstGeom prst="roundRect">
            <a:avLst>
              <a:gd name="adj" fmla="val 40000"/>
            </a:avLst>
          </a:prstGeom>
          <a:solidFill>
            <a:srgbClr val="2A245E"/>
          </a:solidFill>
          <a:ln w="12700">
            <a:solidFill>
              <a:srgbClr val="514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1578" y="1481328"/>
            <a:ext cx="308853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7AF0"/>
                </a:solidFill>
                <a:latin typeface="Segoe UI"/>
              </a:rPr>
              <a:t>✓  </a:t>
            </a:r>
            <a:r>
              <a:rPr sz="1250" b="0">
                <a:solidFill>
                  <a:srgbClr val="FFFFFF"/>
                </a:solidFill>
                <a:latin typeface="Segoe UI"/>
              </a:rPr>
              <a:t>Suivi du payé et du reste à payer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5876" y="1481328"/>
            <a:ext cx="3362858" cy="566928"/>
          </a:xfrm>
          <a:prstGeom prst="roundRect">
            <a:avLst>
              <a:gd name="adj" fmla="val 40000"/>
            </a:avLst>
          </a:prstGeom>
          <a:solidFill>
            <a:srgbClr val="2A245E"/>
          </a:solidFill>
          <a:ln w="12700">
            <a:solidFill>
              <a:srgbClr val="514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43036" y="1481328"/>
            <a:ext cx="308853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7AF0"/>
                </a:solidFill>
                <a:latin typeface="Segoe UI"/>
              </a:rPr>
              <a:t>✓  </a:t>
            </a:r>
            <a:r>
              <a:rPr sz="1250" b="0">
                <a:solidFill>
                  <a:srgbClr val="FFFFFF"/>
                </a:solidFill>
                <a:latin typeface="Segoe UI"/>
              </a:rPr>
              <a:t>Mise à jour immédiate, sans rechargement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90478" y="2231136"/>
            <a:ext cx="9010738" cy="4087367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06_paie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342" y="2286000"/>
            <a:ext cx="8901010" cy="3977639"/>
          </a:xfrm>
          <a:prstGeom prst="rect">
            <a:avLst/>
          </a:prstGeom>
        </p:spPr>
      </p:pic>
      <p:pic>
        <p:nvPicPr>
          <p:cNvPr id="14" name="Picture 13" descr="BudgetFlow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355080"/>
            <a:ext cx="310896" cy="3108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1248" y="6336792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BudgetFlow</a:t>
            </a:r>
            <a:r>
              <a:rPr sz="1100" b="0">
                <a:solidFill>
                  <a:srgbClr val="C4B5FD"/>
                </a:solidFill>
                <a:latin typeface="Segoe UI"/>
              </a:rPr>
              <a:t>   •  une solution SAVE TECH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336792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7CDE8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lient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40080" y="566928"/>
            <a:ext cx="128016" cy="822960"/>
          </a:xfrm>
          <a:prstGeom prst="roundRect">
            <a:avLst>
              <a:gd name="adj" fmla="val 50000"/>
            </a:avLst>
          </a:prstGeom>
          <a:solidFill>
            <a:srgbClr val="E87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7AF0"/>
                </a:solidFill>
                <a:latin typeface="Segoe UI"/>
              </a:rPr>
              <a:t>BANQUE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749808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Trésorerie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81328"/>
            <a:ext cx="3362858" cy="566928"/>
          </a:xfrm>
          <a:prstGeom prst="roundRect">
            <a:avLst>
              <a:gd name="adj" fmla="val 40000"/>
            </a:avLst>
          </a:prstGeom>
          <a:solidFill>
            <a:srgbClr val="2A245E"/>
          </a:solidFill>
          <a:ln w="12700">
            <a:solidFill>
              <a:srgbClr val="514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481328"/>
            <a:ext cx="308853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7AF0"/>
                </a:solidFill>
                <a:latin typeface="Segoe UI"/>
              </a:rPr>
              <a:t>✓  </a:t>
            </a:r>
            <a:r>
              <a:rPr sz="1250" b="0">
                <a:solidFill>
                  <a:srgbClr val="FFFFFF"/>
                </a:solidFill>
                <a:latin typeface="Segoe UI"/>
              </a:rPr>
              <a:t>Suivi des comptes et des décaissements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4418" y="1481328"/>
            <a:ext cx="3362858" cy="566928"/>
          </a:xfrm>
          <a:prstGeom prst="roundRect">
            <a:avLst>
              <a:gd name="adj" fmla="val 40000"/>
            </a:avLst>
          </a:prstGeom>
          <a:solidFill>
            <a:srgbClr val="2A245E"/>
          </a:solidFill>
          <a:ln w="12700">
            <a:solidFill>
              <a:srgbClr val="514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1578" y="1481328"/>
            <a:ext cx="308853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7AF0"/>
                </a:solidFill>
                <a:latin typeface="Segoe UI"/>
              </a:rPr>
              <a:t>✓  </a:t>
            </a:r>
            <a:r>
              <a:rPr sz="1250" b="0">
                <a:solidFill>
                  <a:srgbClr val="FFFFFF"/>
                </a:solidFill>
                <a:latin typeface="Segoe UI"/>
              </a:rPr>
              <a:t>Historique complet des transactions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5876" y="1481328"/>
            <a:ext cx="3362858" cy="566928"/>
          </a:xfrm>
          <a:prstGeom prst="roundRect">
            <a:avLst>
              <a:gd name="adj" fmla="val 40000"/>
            </a:avLst>
          </a:prstGeom>
          <a:solidFill>
            <a:srgbClr val="2A245E"/>
          </a:solidFill>
          <a:ln w="12700">
            <a:solidFill>
              <a:srgbClr val="514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43036" y="1481328"/>
            <a:ext cx="308853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7AF0"/>
                </a:solidFill>
                <a:latin typeface="Segoe UI"/>
              </a:rPr>
              <a:t>✓  </a:t>
            </a:r>
            <a:r>
              <a:rPr sz="1250" b="0">
                <a:solidFill>
                  <a:srgbClr val="FFFFFF"/>
                </a:solidFill>
                <a:latin typeface="Segoe UI"/>
              </a:rPr>
              <a:t>Rapprochement automatique des soldes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21384" y="2231136"/>
            <a:ext cx="8948925" cy="4087367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07_tresorer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248" y="2286000"/>
            <a:ext cx="8839197" cy="3977639"/>
          </a:xfrm>
          <a:prstGeom prst="rect">
            <a:avLst/>
          </a:prstGeom>
        </p:spPr>
      </p:pic>
      <p:pic>
        <p:nvPicPr>
          <p:cNvPr id="14" name="Picture 13" descr="BudgetFlow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355080"/>
            <a:ext cx="310896" cy="3108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1248" y="6336792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BudgetFlow</a:t>
            </a:r>
            <a:r>
              <a:rPr sz="1100" b="0">
                <a:solidFill>
                  <a:srgbClr val="C4B5FD"/>
                </a:solidFill>
                <a:latin typeface="Segoe UI"/>
              </a:rPr>
              <a:t>   •  une solution SAVE TECH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336792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7CDE8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lient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40080" y="566928"/>
            <a:ext cx="128016" cy="822960"/>
          </a:xfrm>
          <a:prstGeom prst="roundRect">
            <a:avLst>
              <a:gd name="adj" fmla="val 50000"/>
            </a:avLst>
          </a:prstGeom>
          <a:solidFill>
            <a:srgbClr val="E87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7AF0"/>
                </a:solidFill>
                <a:latin typeface="Segoe UI"/>
              </a:rPr>
              <a:t>AVANCES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749808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Préfinancements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81328"/>
            <a:ext cx="3362858" cy="566928"/>
          </a:xfrm>
          <a:prstGeom prst="roundRect">
            <a:avLst>
              <a:gd name="adj" fmla="val 40000"/>
            </a:avLst>
          </a:prstGeom>
          <a:solidFill>
            <a:srgbClr val="2A245E"/>
          </a:solidFill>
          <a:ln w="12700">
            <a:solidFill>
              <a:srgbClr val="514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481328"/>
            <a:ext cx="308853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7AF0"/>
                </a:solidFill>
                <a:latin typeface="Segoe UI"/>
              </a:rPr>
              <a:t>✓  </a:t>
            </a:r>
            <a:r>
              <a:rPr sz="1250" b="0">
                <a:solidFill>
                  <a:srgbClr val="FFFFFF"/>
                </a:solidFill>
                <a:latin typeface="Segoe UI"/>
              </a:rPr>
              <a:t>Avances de trésorerie maîtrisées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4418" y="1481328"/>
            <a:ext cx="3362858" cy="566928"/>
          </a:xfrm>
          <a:prstGeom prst="roundRect">
            <a:avLst>
              <a:gd name="adj" fmla="val 40000"/>
            </a:avLst>
          </a:prstGeom>
          <a:solidFill>
            <a:srgbClr val="2A245E"/>
          </a:solidFill>
          <a:ln w="12700">
            <a:solidFill>
              <a:srgbClr val="514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1578" y="1481328"/>
            <a:ext cx="308853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7AF0"/>
                </a:solidFill>
                <a:latin typeface="Segoe UI"/>
              </a:rPr>
              <a:t>✓  </a:t>
            </a:r>
            <a:r>
              <a:rPr sz="1250" b="0">
                <a:solidFill>
                  <a:srgbClr val="FFFFFF"/>
                </a:solidFill>
                <a:latin typeface="Segoe UI"/>
              </a:rPr>
              <a:t>Suivi des remboursements et de leur historique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5876" y="1481328"/>
            <a:ext cx="3362858" cy="566928"/>
          </a:xfrm>
          <a:prstGeom prst="roundRect">
            <a:avLst>
              <a:gd name="adj" fmla="val 40000"/>
            </a:avLst>
          </a:prstGeom>
          <a:solidFill>
            <a:srgbClr val="2A245E"/>
          </a:solidFill>
          <a:ln w="12700">
            <a:solidFill>
              <a:srgbClr val="514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43036" y="1481328"/>
            <a:ext cx="308853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7AF0"/>
                </a:solidFill>
                <a:latin typeface="Segoe UI"/>
              </a:rPr>
              <a:t>✓  </a:t>
            </a:r>
            <a:r>
              <a:rPr sz="1250" b="0">
                <a:solidFill>
                  <a:srgbClr val="FFFFFF"/>
                </a:solidFill>
                <a:latin typeface="Segoe UI"/>
              </a:rPr>
              <a:t>Alertes de bonne gestion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7463" y="2231136"/>
            <a:ext cx="10716768" cy="389511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08_prefinance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327" y="2286000"/>
            <a:ext cx="10607040" cy="3785387"/>
          </a:xfrm>
          <a:prstGeom prst="rect">
            <a:avLst/>
          </a:prstGeom>
        </p:spPr>
      </p:pic>
      <p:pic>
        <p:nvPicPr>
          <p:cNvPr id="14" name="Picture 13" descr="BudgetFlow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355080"/>
            <a:ext cx="310896" cy="3108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1248" y="6336792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BudgetFlow</a:t>
            </a:r>
            <a:r>
              <a:rPr sz="1100" b="0">
                <a:solidFill>
                  <a:srgbClr val="C4B5FD"/>
                </a:solidFill>
                <a:latin typeface="Segoe UI"/>
              </a:rPr>
              <a:t>   •  une solution SAVE TECH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336792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7CDE8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lient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40080" y="566928"/>
            <a:ext cx="128016" cy="822960"/>
          </a:xfrm>
          <a:prstGeom prst="roundRect">
            <a:avLst>
              <a:gd name="adj" fmla="val 50000"/>
            </a:avLst>
          </a:prstGeom>
          <a:solidFill>
            <a:srgbClr val="E87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7AF0"/>
                </a:solidFill>
                <a:latin typeface="Segoe UI"/>
              </a:rPr>
              <a:t>RESSOURCES HUMAINES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749808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Prêts aux employés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81328"/>
            <a:ext cx="3362858" cy="566928"/>
          </a:xfrm>
          <a:prstGeom prst="roundRect">
            <a:avLst>
              <a:gd name="adj" fmla="val 40000"/>
            </a:avLst>
          </a:prstGeom>
          <a:solidFill>
            <a:srgbClr val="2A245E"/>
          </a:solidFill>
          <a:ln w="12700">
            <a:solidFill>
              <a:srgbClr val="514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481328"/>
            <a:ext cx="308853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7AF0"/>
                </a:solidFill>
                <a:latin typeface="Segoe UI"/>
              </a:rPr>
              <a:t>✓  </a:t>
            </a:r>
            <a:r>
              <a:rPr sz="1250" b="0">
                <a:solidFill>
                  <a:srgbClr val="FFFFFF"/>
                </a:solidFill>
                <a:latin typeface="Segoe UI"/>
              </a:rPr>
              <a:t>Prêts au personnel simplifiés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4418" y="1481328"/>
            <a:ext cx="3362858" cy="566928"/>
          </a:xfrm>
          <a:prstGeom prst="roundRect">
            <a:avLst>
              <a:gd name="adj" fmla="val 40000"/>
            </a:avLst>
          </a:prstGeom>
          <a:solidFill>
            <a:srgbClr val="2A245E"/>
          </a:solidFill>
          <a:ln w="12700">
            <a:solidFill>
              <a:srgbClr val="514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1578" y="1481328"/>
            <a:ext cx="308853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7AF0"/>
                </a:solidFill>
                <a:latin typeface="Segoe UI"/>
              </a:rPr>
              <a:t>✓  </a:t>
            </a:r>
            <a:r>
              <a:rPr sz="1250" b="0">
                <a:solidFill>
                  <a:srgbClr val="FFFFFF"/>
                </a:solidFill>
                <a:latin typeface="Segoe UI"/>
              </a:rPr>
              <a:t>Échéancier et historique des remboursements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5876" y="1481328"/>
            <a:ext cx="3362858" cy="566928"/>
          </a:xfrm>
          <a:prstGeom prst="roundRect">
            <a:avLst>
              <a:gd name="adj" fmla="val 40000"/>
            </a:avLst>
          </a:prstGeom>
          <a:solidFill>
            <a:srgbClr val="2A245E"/>
          </a:solidFill>
          <a:ln w="12700">
            <a:solidFill>
              <a:srgbClr val="514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43036" y="1481328"/>
            <a:ext cx="308853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7AF0"/>
                </a:solidFill>
                <a:latin typeface="Segoe UI"/>
              </a:rPr>
              <a:t>✓  </a:t>
            </a:r>
            <a:r>
              <a:rPr sz="1250" b="0">
                <a:solidFill>
                  <a:srgbClr val="FFFFFF"/>
                </a:solidFill>
                <a:latin typeface="Segoe UI"/>
              </a:rPr>
              <a:t>Statuts clairs à chaque étape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98641" y="2231136"/>
            <a:ext cx="9594411" cy="4087367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11_employ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505" y="2286000"/>
            <a:ext cx="9484683" cy="3977639"/>
          </a:xfrm>
          <a:prstGeom prst="rect">
            <a:avLst/>
          </a:prstGeom>
        </p:spPr>
      </p:pic>
      <p:pic>
        <p:nvPicPr>
          <p:cNvPr id="14" name="Picture 13" descr="BudgetFlow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355080"/>
            <a:ext cx="310896" cy="3108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1248" y="6336792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BudgetFlow</a:t>
            </a:r>
            <a:r>
              <a:rPr sz="1100" b="0">
                <a:solidFill>
                  <a:srgbClr val="C4B5FD"/>
                </a:solidFill>
                <a:latin typeface="Segoe UI"/>
              </a:rPr>
              <a:t>   •  une solution SAVE TECH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336792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7CDE8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lient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40080" y="566928"/>
            <a:ext cx="128016" cy="822960"/>
          </a:xfrm>
          <a:prstGeom prst="roundRect">
            <a:avLst>
              <a:gd name="adj" fmla="val 50000"/>
            </a:avLst>
          </a:prstGeom>
          <a:solidFill>
            <a:srgbClr val="E87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7AF0"/>
                </a:solidFill>
                <a:latin typeface="Segoe UI"/>
              </a:rPr>
              <a:t>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749808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Rapports &amp; exports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81328"/>
            <a:ext cx="3362858" cy="566928"/>
          </a:xfrm>
          <a:prstGeom prst="roundRect">
            <a:avLst>
              <a:gd name="adj" fmla="val 40000"/>
            </a:avLst>
          </a:prstGeom>
          <a:solidFill>
            <a:srgbClr val="2A245E"/>
          </a:solidFill>
          <a:ln w="12700">
            <a:solidFill>
              <a:srgbClr val="514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481328"/>
            <a:ext cx="308853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7AF0"/>
                </a:solidFill>
                <a:latin typeface="Segoe UI"/>
              </a:rPr>
              <a:t>✓  </a:t>
            </a:r>
            <a:r>
              <a:rPr sz="1250" b="0">
                <a:solidFill>
                  <a:srgbClr val="FFFFFF"/>
                </a:solidFill>
                <a:latin typeface="Segoe UI"/>
              </a:rPr>
              <a:t>Rapports consolidés par période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4418" y="1481328"/>
            <a:ext cx="3362858" cy="566928"/>
          </a:xfrm>
          <a:prstGeom prst="roundRect">
            <a:avLst>
              <a:gd name="adj" fmla="val 40000"/>
            </a:avLst>
          </a:prstGeom>
          <a:solidFill>
            <a:srgbClr val="2A245E"/>
          </a:solidFill>
          <a:ln w="12700">
            <a:solidFill>
              <a:srgbClr val="514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1578" y="1481328"/>
            <a:ext cx="308853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7AF0"/>
                </a:solidFill>
                <a:latin typeface="Segoe UI"/>
              </a:rPr>
              <a:t>✓  </a:t>
            </a:r>
            <a:r>
              <a:rPr sz="1250" b="0">
                <a:solidFill>
                  <a:srgbClr val="FFFFFF"/>
                </a:solidFill>
                <a:latin typeface="Segoe UI"/>
              </a:rPr>
              <a:t>Exports PDF et Excel soignés et colorés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5876" y="1481328"/>
            <a:ext cx="3362858" cy="566928"/>
          </a:xfrm>
          <a:prstGeom prst="roundRect">
            <a:avLst>
              <a:gd name="adj" fmla="val 40000"/>
            </a:avLst>
          </a:prstGeom>
          <a:solidFill>
            <a:srgbClr val="2A245E"/>
          </a:solidFill>
          <a:ln w="12700">
            <a:solidFill>
              <a:srgbClr val="514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43036" y="1481328"/>
            <a:ext cx="308853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7AF0"/>
                </a:solidFill>
                <a:latin typeface="Segoe UI"/>
              </a:rPr>
              <a:t>✓  </a:t>
            </a:r>
            <a:r>
              <a:rPr sz="1250" b="0">
                <a:solidFill>
                  <a:srgbClr val="FFFFFF"/>
                </a:solidFill>
                <a:latin typeface="Segoe UI"/>
              </a:rPr>
              <a:t>Prêts à partager avec vos bailleurs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96694" y="2231136"/>
            <a:ext cx="8998306" cy="4087367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10_rappo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558" y="2286000"/>
            <a:ext cx="8888578" cy="3977639"/>
          </a:xfrm>
          <a:prstGeom prst="rect">
            <a:avLst/>
          </a:prstGeom>
        </p:spPr>
      </p:pic>
      <p:pic>
        <p:nvPicPr>
          <p:cNvPr id="14" name="Picture 13" descr="BudgetFlow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355080"/>
            <a:ext cx="310896" cy="3108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1248" y="6336792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BudgetFlow</a:t>
            </a:r>
            <a:r>
              <a:rPr sz="1100" b="0">
                <a:solidFill>
                  <a:srgbClr val="C4B5FD"/>
                </a:solidFill>
                <a:latin typeface="Segoe UI"/>
              </a:rPr>
              <a:t>   •  une solution SAVE TECH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336792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7CDE8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lient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40080" y="566928"/>
            <a:ext cx="128016" cy="822960"/>
          </a:xfrm>
          <a:prstGeom prst="roundRect">
            <a:avLst>
              <a:gd name="adj" fmla="val 50000"/>
            </a:avLst>
          </a:prstGeom>
          <a:solidFill>
            <a:srgbClr val="E87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7AF0"/>
                </a:solidFill>
                <a:latin typeface="Segoe UI"/>
              </a:rPr>
              <a:t>CE QUI FAIT LA DIFFÉRENCE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749808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Des atouts pensés pour le quotidien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00200"/>
            <a:ext cx="5303520" cy="1234440"/>
          </a:xfrm>
          <a:prstGeom prst="roundRect">
            <a:avLst>
              <a:gd name="adj" fmla="val 8000"/>
            </a:avLst>
          </a:prstGeom>
          <a:solidFill>
            <a:srgbClr val="242150"/>
          </a:solidFill>
          <a:ln w="12700">
            <a:solidFill>
              <a:srgbClr val="514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24128" y="207111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E87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54480" y="1746504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C4B5FD"/>
                </a:solidFill>
                <a:latin typeface="Segoe UI"/>
              </a:rPr>
              <a:t>Accès rapide « À signer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148840"/>
            <a:ext cx="4389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Segoe UI"/>
              </a:rPr>
              <a:t>Chaque validateur retrouve en un clic ce qui l'attend.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600200"/>
            <a:ext cx="5303520" cy="1234440"/>
          </a:xfrm>
          <a:prstGeom prst="roundRect">
            <a:avLst>
              <a:gd name="adj" fmla="val 8000"/>
            </a:avLst>
          </a:prstGeom>
          <a:solidFill>
            <a:srgbClr val="242150"/>
          </a:solidFill>
          <a:ln w="12700">
            <a:solidFill>
              <a:srgbClr val="514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56248" y="207111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E87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86600" y="1746504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C4B5FD"/>
                </a:solidFill>
                <a:latin typeface="Segoe UI"/>
              </a:rPr>
              <a:t>Historiques complets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148840"/>
            <a:ext cx="4389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Segoe UI"/>
              </a:rPr>
              <a:t>Notifications, transferts, remboursements, transactions : tout est conservé.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017520"/>
            <a:ext cx="5303520" cy="1234440"/>
          </a:xfrm>
          <a:prstGeom prst="roundRect">
            <a:avLst>
              <a:gd name="adj" fmla="val 8000"/>
            </a:avLst>
          </a:prstGeom>
          <a:solidFill>
            <a:srgbClr val="242150"/>
          </a:solidFill>
          <a:ln w="12700">
            <a:solidFill>
              <a:srgbClr val="514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24128" y="348843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E87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54480" y="3163824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C4B5FD"/>
                </a:solidFill>
                <a:latin typeface="Segoe UI"/>
              </a:rPr>
              <a:t>Documents joints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566160"/>
            <a:ext cx="4389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Segoe UI"/>
              </a:rPr>
              <a:t>Proformas, factures et fiches physiques rattachés à chaque opération.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017520"/>
            <a:ext cx="5303520" cy="1234440"/>
          </a:xfrm>
          <a:prstGeom prst="roundRect">
            <a:avLst>
              <a:gd name="adj" fmla="val 8000"/>
            </a:avLst>
          </a:prstGeom>
          <a:solidFill>
            <a:srgbClr val="242150"/>
          </a:solidFill>
          <a:ln w="12700">
            <a:solidFill>
              <a:srgbClr val="514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556248" y="348843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E87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86600" y="3163824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C4B5FD"/>
                </a:solidFill>
                <a:latin typeface="Segoe UI"/>
              </a:rPr>
              <a:t>Exports professionnels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566160"/>
            <a:ext cx="4389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Segoe UI"/>
              </a:rPr>
              <a:t>PDF et Excel colorés, lisibles, prêts à présenter.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434840"/>
            <a:ext cx="5303520" cy="1234440"/>
          </a:xfrm>
          <a:prstGeom prst="roundRect">
            <a:avLst>
              <a:gd name="adj" fmla="val 8000"/>
            </a:avLst>
          </a:prstGeom>
          <a:solidFill>
            <a:srgbClr val="242150"/>
          </a:solidFill>
          <a:ln w="12700">
            <a:solidFill>
              <a:srgbClr val="514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24128" y="490575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E87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554480" y="4581144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C4B5FD"/>
                </a:solidFill>
                <a:latin typeface="Segoe UI"/>
              </a:rPr>
              <a:t>Multi-devise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983480"/>
            <a:ext cx="4389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Segoe UI"/>
              </a:rPr>
              <a:t>Gérez vos budgets dans la devise de chaque financement.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4434840"/>
            <a:ext cx="5303520" cy="1234440"/>
          </a:xfrm>
          <a:prstGeom prst="roundRect">
            <a:avLst>
              <a:gd name="adj" fmla="val 8000"/>
            </a:avLst>
          </a:prstGeom>
          <a:solidFill>
            <a:srgbClr val="242150"/>
          </a:solidFill>
          <a:ln w="12700">
            <a:solidFill>
              <a:srgbClr val="514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556248" y="490575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E87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86600" y="4581144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C4B5FD"/>
                </a:solidFill>
                <a:latin typeface="Segoe UI"/>
              </a:rPr>
              <a:t>Clair ou sombre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983480"/>
            <a:ext cx="4389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Segoe UI"/>
              </a:rPr>
              <a:t>Une interface moderne, agréable, adaptée à vos préférences.</a:t>
            </a:r>
          </a:p>
        </p:txBody>
      </p:sp>
      <p:pic>
        <p:nvPicPr>
          <p:cNvPr id="30" name="Picture 29" descr="BudgetFlow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355080"/>
            <a:ext cx="310896" cy="31089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41248" y="6336792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BudgetFlow</a:t>
            </a:r>
            <a:r>
              <a:rPr sz="1100" b="0">
                <a:solidFill>
                  <a:srgbClr val="C4B5FD"/>
                </a:solidFill>
                <a:latin typeface="Segoe UI"/>
              </a:rPr>
              <a:t>   •  une solution SAVE TECH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94415" y="6336792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7CDE8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lient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901184" y="822960"/>
            <a:ext cx="2377440" cy="54864"/>
          </a:xfrm>
          <a:prstGeom prst="roundRect">
            <a:avLst>
              <a:gd name="adj" fmla="val 50000"/>
            </a:avLst>
          </a:prstGeom>
          <a:solidFill>
            <a:srgbClr val="E87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Segoe UI"/>
              </a:rPr>
              <a:t>Ce que BudgetFlow vous apporte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5120640" cy="1645920"/>
          </a:xfrm>
          <a:prstGeom prst="roundRect">
            <a:avLst>
              <a:gd name="adj" fmla="val 7000"/>
            </a:avLst>
          </a:prstGeom>
          <a:solidFill>
            <a:srgbClr val="1E1B4B"/>
          </a:solidFill>
          <a:ln w="12700">
            <a:solidFill>
              <a:srgbClr val="514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34440" y="2267712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C4B5FD"/>
                </a:solidFill>
                <a:latin typeface="Segoe UI"/>
              </a:rPr>
              <a:t>Gagnez du temps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788920"/>
            <a:ext cx="4572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Segoe UI"/>
              </a:rPr>
              <a:t>Moins de saisie, moins d'allers-retours : l'essentiel en quelques clics.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011680"/>
            <a:ext cx="5120640" cy="1645920"/>
          </a:xfrm>
          <a:prstGeom prst="roundRect">
            <a:avLst>
              <a:gd name="adj" fmla="val 7000"/>
            </a:avLst>
          </a:prstGeom>
          <a:solidFill>
            <a:srgbClr val="1E1B4B"/>
          </a:solidFill>
          <a:ln w="12700">
            <a:solidFill>
              <a:srgbClr val="514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29400" y="2267712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C4B5FD"/>
                </a:solidFill>
                <a:latin typeface="Segoe UI"/>
              </a:rPr>
              <a:t>Fiez-vous aux chiffres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788920"/>
            <a:ext cx="4572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Segoe UI"/>
              </a:rPr>
              <a:t>Des montants justes, cohérents et cohérents partout.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886199"/>
            <a:ext cx="5120640" cy="1645920"/>
          </a:xfrm>
          <a:prstGeom prst="roundRect">
            <a:avLst>
              <a:gd name="adj" fmla="val 7000"/>
            </a:avLst>
          </a:prstGeom>
          <a:solidFill>
            <a:srgbClr val="1E1B4B"/>
          </a:solidFill>
          <a:ln w="12700">
            <a:solidFill>
              <a:srgbClr val="514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34440" y="4142231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C4B5FD"/>
                </a:solidFill>
                <a:latin typeface="Segoe UI"/>
              </a:rPr>
              <a:t>Soyez transparent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663439"/>
            <a:ext cx="4572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Segoe UI"/>
              </a:rPr>
              <a:t>Qui, quoi, quand : une traçabilité totale pour rassurer vos partenaires.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886199"/>
            <a:ext cx="5120640" cy="1645920"/>
          </a:xfrm>
          <a:prstGeom prst="roundRect">
            <a:avLst>
              <a:gd name="adj" fmla="val 7000"/>
            </a:avLst>
          </a:prstGeom>
          <a:solidFill>
            <a:srgbClr val="1E1B4B"/>
          </a:solidFill>
          <a:ln w="12700">
            <a:solidFill>
              <a:srgbClr val="514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9400" y="4142231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C4B5FD"/>
                </a:solidFill>
                <a:latin typeface="Segoe UI"/>
              </a:rPr>
              <a:t>Pilotez sereinement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663439"/>
            <a:ext cx="4572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Segoe UI"/>
              </a:rPr>
              <a:t>Décidez et rendez compte avec des indicateurs fiables et à jour.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lient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BudgetFlow_logo_g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1051560"/>
            <a:ext cx="2286000" cy="228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429000"/>
            <a:ext cx="1036015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Segoe UI"/>
              </a:rPr>
              <a:t>Passez à BudgetFlow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43400"/>
            <a:ext cx="103601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C4B5FD"/>
                </a:solidFill>
                <a:latin typeface="Segoe UI"/>
              </a:rPr>
              <a:t>Gérez vos budgets avec précision, sérénité et transparence.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01184" y="5029200"/>
            <a:ext cx="2377440" cy="54864"/>
          </a:xfrm>
          <a:prstGeom prst="roundRect">
            <a:avLst>
              <a:gd name="adj" fmla="val 50000"/>
            </a:avLst>
          </a:prstGeom>
          <a:solidFill>
            <a:srgbClr val="E87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5257800"/>
            <a:ext cx="103601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C7CDE8"/>
                </a:solidFill>
                <a:latin typeface="Segoe UI"/>
              </a:rPr>
              <a:t>Une solution </a:t>
            </a:r>
            <a:r>
              <a:rPr sz="1600" b="1">
                <a:solidFill>
                  <a:srgbClr val="FFFFFF"/>
                </a:solidFill>
                <a:latin typeface="Segoe UI"/>
              </a:rPr>
              <a:t>SAVE 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Grand écran</PresentationFormat>
  <Paragraphs>0</Paragraphs>
  <Slides>17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18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10</cp:revision>
  <dcterms:created xsi:type="dcterms:W3CDTF">2013-01-27T09:14:16Z</dcterms:created>
  <dcterms:modified xsi:type="dcterms:W3CDTF">2026-07-13T13:39:51Z</dcterms:modified>
  <cp:category/>
</cp:coreProperties>
</file>